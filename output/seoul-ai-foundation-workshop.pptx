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오늘은 Claude Desktop을 단순히 질문에 답하는 도구로 쓰는 시간이 아닙니다. 문제를 정의하고, 문서를 만들고, 코드를 구현하고, 품질을 검토하는 전체 업무 흐름을 AI와 함께 끝까지 경험해보겠습니다.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저는 금융, 의료, 교육 도메인에서 각각 AutoML, Computer Vision Ops, LLMOps 서비스를 만들어왔고, 현재는 무신사에서 Agent 서비스 기획을 진행하고 있습니다. 오늘 강의는 이론 소개보다 실제 업무를 AI Native하게 바꾸는 과정에 초점을 두겠습니다.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오늘의 질문은 'Claude를 어떻게 쓰나요?'보다 조금 더 큽니다. AI와 함께 일할 때 사람이 무엇을 정의하고, AI에게 무엇을 맡기고, 다시 사람이 어디서 검토해야 하는지를 보는 것이 핵심입니다.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5시간이 끝났을 때 남는 것은 단순한 데모 화면 하나가 아닙니다. 문제 정의 문서, PRD, 설계 문서, 코드, 프롬프트 개선안, 리뷰 노트까지 하나의 작은 제품 개발 패키지를 갖게 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오늘은 문서만 만들다가 끝나지도 않고, 코드만 치다가 끝나지도 않습니다. 13시부터 18시까지 문제 정의, PRD, 설계, 구현, 품질 개선, 리뷰를 한 번의 흐름으로 경험합니다. 중간중간 실습 시간이 들어가므로, 슬라이드는 설명 자료이면서 동시에 다음 작업으로 넘어가는 안내판 역할을 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오늘 다룰 예제는 민원/FAQ 자동화입니다. 공공기관, 고객지원, 교육기관 어디에나 설명하기 쉬운 문제이고, AI가 사람을 대체하기보다 운영자의 반복 업무를 줄이는 방향으로 설계하기 좋습니다.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오늘 계속 반복될 메시지는 이것입니다. AI를 잘 쓰는 개발자는 프롬프트를 길게 쓰는 사람이 아니라, 일을 잘게 나누고 맥락을 잘 제공하고 검토 기준을 명확히 주는 사람입니다. 그래서 AI Native 개발은 속도와 검토를 함께 설계하는 일입니다.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AI Native는 AI를 마지막에 붙이는 자동화가 아닙니다. 처음 문제를 정의하는 순간부터 AI와 함께 일하고, 중간 산출물을 다음 단계의 입력으로 계속 연결하는 방식입니다.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90초]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초기 AI 활용은 대개 질문 단위입니다. 하지만 실제 업무 생산성이 올라가는 지점은 질문 하나의 답이 아니라, 산출물들이 다음 산출물의 재료가 되는 구조를 만들 때입니다.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Claude Desktop의 강점은 대화창 하나에서 끝나는 것이 아니라, 프로젝트 폴더의 문서와 코드를 함께 보며 작업할 수 있다는 점입니다. 그래서 오늘은 Claude를 문서 작성 도구가 아니라 프로젝트 파트너처럼 써보겠습니다.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프롬프트를 잘 쓴다는 것은 멋진 문장을 쓰는 것이 아닙니다. 역할, 맥락, 산출물, 제약, 검토 기준을 빠뜨리지 않는 것이 훨씬 중요합니다.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90초]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좋은 요청은 길기만 한 요청이 아닙니다. AI가 바로 작업할 수 있을 만큼 기준 문서와 작업 범위를 정확히 지정한 요청입니다.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오늘의 저장소는 강의 자료와 실습 코드가 분리되어 있지 않습니다. Claude가 문서를 읽고 코드를 고치고, 다시 문서 기준으로 리뷰할 수 있도록 일부러 한 폴더 안에 구성했습니다.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90초]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첫 데모는 구현이 아닙니다. 먼저 Claude에게 이 프로젝트가 무엇인지 요약하게 하겠습니다. 그리고 네 명의 인턴이 있다면 역할을 나눕니다. 한 명은 문제와 PRD, 한 명은 사용자 흐름과 UI, 한 명은 API와 데이터, 한 명은 품질과 테스트를 맡으면 실습이 훨씬 유기적으로 진행됩니다.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실연 포함 5분]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민원/FAQ 자동화는 AI 교육 예제로 매우 좋습니다. 반복성과 기준이 있고, 동시에 사람이 검토해야 하는 지점도 분명하기 때문입니다.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실무에서 중요한 것은 자동화 가능성만 보는 것이 아닙니다. 무엇을 자동화하면 위험한지도 함께 정해야 합니다. 이 경계가 있어야 조직에서 신뢰를 얻을 수 있습니다.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90초]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문제 정의는 기능 목록이 아닙니다. 누가 어떤 불편을 겪고 있는지를 분리해서 보는 일입니다. 오늘은 시민, 운영자, 관리자 관점으로 나눠보겠습니다.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Problem Statement는 문서 작성 과제가 아닙니다. 이후 PRD와 설계, 구현이 흔들리지 않게 만드는 기준점입니다.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Claude에게 문제 정의를 맡길 때도 기준을 함께 줘야 합니다. 특히 이번 예제에서는 운영자 승인과 정책 확인이 중요한 제약입니다.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이제 첫 번째 실습입니다. Claude에게 문제 정의를 만들어보게 하고, 나온 문서를 그대로 믿기보다 범위와 위험 요소가 충분히 들어갔는지 함께 확인하겠습니다. 네 명이 함께한다면 한 명이 초안을 만들고, 나머지는 사용자, 기술, 품질 관점에서 빠르게 리뷰합니다.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실습 포함 9분]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AI가 만든 문서에서 가장 자주 생기는 문제는 그럴듯하지만 기준이 약하다는 점입니다. 지금은 내용이 멋진지보다 다음 단계로 넘길 수 있을 만큼 명확한지를 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4분]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AI 시대에도 PRD가 사라지는 것이 아니라 오히려 더 중요해집니다. AI가 빠르게 구현할수록 무엇을 구현해야 하는지에 대한 기준이 더 필요합니다.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오늘은 거대한 PRD를 만들지 않습니다. 대신 AI와 개발자가 바로 다음 단계로 넘어갈 수 있는 최소한의 PRD를 만듭니다.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Claude에게 그냥 서비스를 만들어달라고 하면 기능이 쉽게 커집니다. 오늘은 오히려 범위를 줄이는 것이 좋은 PM의 역할입니다.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오늘의 MVP는 매우 명확합니다. 실제 발송이나 관리자 기능까지 만들지 않고, 운영자가 문의를 보고 AI 초안을 검토할 수 있는 흐름까지만 만듭니다.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AI 기능의 성공 기준은 정확도 하나로 끝나지 않습니다. 운영자가 검토하기 쉬운지, 위험한 문의를 무리하게 답하지 않는지도 함께 봐야 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PRD 작성에서는 Claude에게 무엇을 포함할지뿐 아니라 어느 수준까지 쓰면 되는지도 알려줘야 합니다. 오늘 기준은 1일 내 프로토타입 가능한 수준입니다.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이제 문제 정의를 PRD로 바꾸겠습니다. 여기서 중요한 것은 기능을 많이 넣는 것이 아니라, 오늘 끝까지 만들 수 있는 범위를 정하는 것입니다.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실습 포함 11분]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PRD는 기획자 혼자 만족하는 문서가 아닙니다. 임원 관점에서는 회사가 투자할 가치가 있는지, 디자이너 관점에서는 실제 화면으로 옮겼을 때 사용자가 헷갈리지 않는지, 엔지니어 관점에서는 API와 데이터 구조로 구현 가능한지를 봐야 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설계 문서는 개발자만을 위한 문서가 아닙니다. Claude에게도 어떤 파일을 어떻게 만들지 판단하게 해주는 중간 번역 문서입니다.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설계 단계에서는 그림을 많이 그리는 것이 목적이 아닙니다. Flowchart로 사용자 흐름을 보고, Sequence Diagram으로 호출 순서를 보고, ERD로 데이터 구조를 보면 Claude가 코드를 만들 때 기준이 훨씬 명확해집니다.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Flowchart는 사용자의 큰 이동 경로를 보여줍니다. 여기서 꼭 봐야 할 것은 AI가 답변을 만든 뒤 바로 발송하지 않고, 운영자 검토 단계를 지난다는 점입니다.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Sequence Diagram은 개발자가 특히 좋아해야 하는 다이어그램입니다. 어떤 컴포넌트가 어떤 순서로 호출되는지 보이면 API 구현과 프론트엔드 연결이 훨씬 쉬워집니다.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오늘은 JSON으로 실습하지만, ERD를 그려보면 나중에 실제 DB로 바꾸는 상상을 할 수 있습니다. 특히 AI 결과물인 Recommendation을 따로 보는 것이 중요합니다.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API는 많을 필요가 없습니다. 오늘의 목표는 문의를 보고 추천 결과를 확인하는 것이므로, 목록, 상세, 추천 생성 정도면 충분합니다.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오늘은 실제 LLM API 없이도 데모가 가능해야 합니다. 그래서 AI Layer를 별도 함수로 빼두고, 나중에 Claude API나 다른 모델로 교체할 수 있게 설계합니다.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설계 문서에서는 너무 복잡한 인프라 설계를 피하고, 오늘 만들 기능을 설명할 수 있는 구조에 집중합니다.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이제 PRD를 설계 문서로 바꾸겠습니다. 이번에는 글만 쓰지 않고 Mermaid로 flow, sequence, ERD까지 함께 만들겠습니다. AI 개발자 입장에서는 이 다이어그램들이 바로 구현 지시서 역할을 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실습 포함 14분]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구현 전에 이 네 가지가 분명해야 합니다. 그렇지 않으면 Claude가 열심히 코드를 만들더라도 우리가 원하는 데모 흐름과 어긋날 수 있습니다.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5분]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AI와 코딩할 때 가장 위험한 것은 한 번에 큰 덩어리를 맡기는 것입니다. 오늘은 API, 데이터, UI, 품질 개선을 작은 단위로 나누겠습니다.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Mock 데이터는 대충 넣는 임시 데이터가 아닙니다. 강의와 데모에서는 시스템의 입력과 출력을 안정적으로 보여주는 핵심 장치입니다.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구현 요청에서도 기준 문서를 반드시 지정합니다. Claude가 어떤 설계를 따라야 하는지 알고 있어야 코드가 문서와 맞게 나옵니다.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첫 API는 문의 목록입니다. 이 API가 있어야 운영자가 어떤 문의들이 들어왔는지 보고, 이후 상세 화면으로 넘어갈 수 있습니다.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상세 API에서는 원문 문의뿐 아니라 추천 결과까지 함께 내려줍니다. 강의용 데모에서는 이 편이 흐름을 보여주기 쉽습니다.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추천 생성 API는 오늘 데모의 핵심입니다. 여기서 AI 기능처럼 보이는 분류, 매칭, 초안 생성, 검토 포인트가 한 번에 만들어집니다.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이제 실제 API 서버를 실행해보겠습니다. 강의 중에는 화면이 예쁘게 뜨는 것보다 먼저 API가 안정적으로 응답하는지를 확인하는 것이 중요합니다.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실연 포함 6분]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수강생들은 지금 각자 API 응답을 확인합니다. 특히 추천 결과에 단순 답변만 있는지, 운영자 검토 포인트까지 있는지를 봐주세요.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실습 포함 10분]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여기서는 코드 품질을 깊게 리뷰하기보다 데모와 확장에 필요한 최소 기준을 봅니다. 데이터, 라우트, AI 로직이 분리되어 있으면 다음 단계가 편해집니다.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5분]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오늘 UI는 예쁘게 포장된 랜딩 페이지가 아니라 운영자 콘솔입니다. 반복 업무를 하는 사람이 빠르게 읽고 판단할 수 있어야 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운영자 도구에서는 정보 배치가 중요합니다. 목록에서 선택하고, 상세를 보고, 추천 결과를 바로 검토하는 흐름이 자연스러워야 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프론트엔드 요청에서도 디자인보다 먼저 정보 구조를 지정합니다. 목록과 상세가 어떻게 연결되는지만 분명해도 Claude가 훨씬 안정적으로 구현합니다.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이제 운영자 화면을 띄우겠습니다. 여기서 핵심은 AI 답변이 자동 발송되는 것이 아니라, 운영자가 검토할 수 있는 형태로 제시된다는 점입니다.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실연 포함 7분]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수강생들은 이제 직접 문의를 클릭해보면서 결과가 어떻게 달라지는지 확인합니다. 이때부터는 기능 구현보다 품질 판단의 눈을 함께 가져가야 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실습 포함 10분]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응답 초안의 품질은 말투만의 문제가 아닙니다. 정책상 확정할 수 없는 것을 확정하지 않는지, 운영자가 확인해야 할 부분을 남겼는지가 중요합니다.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기능 v2는 거창한 완성본이 아닙니다. 운영자가 문의를 보고 AI 초안을 검토하는 핵심 흐름이 끊기지 않으면 오늘 목표에는 충분합니다.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AI 기능은 한 번 만들고 끝나는 기능이 아닙니다. 결과를 보고 무엇이 부족한지 판단하고, 그 기준을 다시 프롬프트와 로직에 반영하는 반복이 필요합니다.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오늘의 AI 품질은 세 가지로 나눠봅니다. 문의를 잘 분류하는지, 답변 초안이 적절한지, 그리고 운영자가 확인해야 할 포인트를 잘 남기는지입니다.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AI는 평범한 입력에서는 그럴듯하게 보이지만, 실제 서비스에서는 애매한 입력과 위험한 입력이 더 중요합니다. Edge case를 일부러 넣어보는 습관이 필요합니다.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좋은 프롬프트는 더 자신 있게 답하게 만드는 것이 아니라, 답할 수 있는 것과 확인해야 하는 것을 구분하게 만드는 방향이어야 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Prompt v2에서는 더 멋진 문장보다 더 안전한 판단 기준을 강화합니다. 특히 공공기관 맥락에서는 확정 표현과 책임 소재를 조심해야 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이제 수강생들이 직접 품질 개선을 해보겠습니다. 중요한 것은 '더 좋게 해줘'가 아니라 어떤 기준으로 더 좋아져야 하는지 말하는 것입니다.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실습 포함 12분]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품질 개선은 좋아진 점만 보는 것이 아닙니다. 새 지시 때문에 답변이 너무 길어졌는지, 지나치게 보수적으로 변했는지도 같이 봐야 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AI가 코드를 만들어도 리뷰는 사라지지 않습니다. 오히려 빠르게 만들어진 코드일수록 문서와 맞는지, 예외를 놓치지 않았는지를 확인해야 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리뷰 요청도 구체적이어야 합니다. '코드 봐줘'보다 PRD와 설계 문서 기준으로 버그, 회귀, 테스트 누락을 찾아달라고 요청하는 편이 훨씬 좋습니다.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오늘 모든 테스트를 자동화하지는 않더라도, 어떤 케이스를 테스트해야 하는지 감각을 가져가는 것이 중요합니다. 특히 AI 기능에서는 실패했을 때의 행동이 중요합니다.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리뷰의 목적은 비판이 아니라 다음 액션을 정하는 것입니다. 지금 고칠 것과 나중에 확장할 것을 나누는 연습을 하겠습니다.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실습 포함 10분]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AI 기능 리뷰에서는 기술 구현뿐 아니라 제품 판단도 같이 봐야 합니다. 특히 위험한 자동화가 숨어 있지 않은지 확인하는 것이 중요합니다.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오늘 만든 것은 프로토타입입니다. 실제 기관에 적용하려면 데이터, 승인, 보안, 로그, 평가 체계가 추가되어야 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조직에서 AI를 도입할 때는 처음부터 완전 자동화를 목표로 잡기보다, 사람이 검토 가능한 초안 생성부터 시작하는 것이 훨씬 현실적입니다.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85초]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AI PM의 역할은 AI에게 일을 던지는 것이 아니라, AI가 좋은 결과를 만들 수 있는 작업 구조를 설계하는 것입니다.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개발자에게도 AI Native 방식은 생산성을 크게 올릴 수 있습니다. 다만 작은 단위로 요청하고, 자주 실행하고, 계약을 지키는 습관이 있어야 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75초]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오늘 우리가 한 일은 하나의 작은 서비스 개발 사이클입니다. 차이는 이 과정을 Claude Desktop과 함께 문서와 코드가 이어지는 방식으로 진행했다는 점입니다.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이제 확장 질문을 받아보겠습니다. 오늘은 프로토타입이지만, 실제 서비스로 가려면 RAG, 승인, 로그, 개인정보 보호 같은 주제가 함께 따라옵니다.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Q&amp;A 포함 12분]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오늘 만든 저장소의 좋은 점은 수업이 끝나도 프롬프트 자산이 남는다는 것입니다. 각자의 업무 도메인에 맞게 이 프롬프트들을 바꿔서 쓰면 됩니다.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오늘 내용을 한 문장으로 요약하면 이것입니다. AI Native는 질문을 잘하는 기술을 넘어, AI와 사람이 함께 일을 끝내는 구조를 만드는 방식입니다.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45초]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이 체크리스트에 답할 수 있다면 오늘 강의의 핵심을 가져가신 겁니다. 도구 사용법보다 중요한 것은 이 흐름을 자기 업무에 다시 적용하는 능력입니다.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60초]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여기까지가 오늘 강의입니다. 질문을 받고, 각자 업무에 어떤 문제부터 적용해볼 수 있을지 짧게 이야기해보겠습니다.</a:t>
            </a:r>
          </a:p>
          <a:p/>
          <a:p>
            <a:r>
              <a:rPr sz="1100" b="0" i="0">
                <a:solidFill>
                  <a:srgbClr val="111111"/>
                </a:solidFill>
                <a:latin typeface="Apple SD Gothic Neo"/>
              </a:rPr>
              <a:t>[권장 발화 시간: 30초]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서울AI재단 5시간 워크숍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914400"/>
            <a:ext cx="1463040" cy="0"/>
          </a:xfrm>
          <a:prstGeom prst="line">
            <a:avLst/>
          </a:prstGeom>
          <a:ln w="2540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0116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111111"/>
                </a:solidFill>
                <a:latin typeface="Apple SD Gothic Neo"/>
              </a:rPr>
              <a:t>개발자에서 </a:t>
            </a:r>
            <a:r>
              <a:rPr sz="4600" b="1" i="0">
                <a:solidFill>
                  <a:srgbClr val="123C7C"/>
                </a:solidFill>
                <a:latin typeface="Apple SD Gothic Neo"/>
              </a:rPr>
              <a:t>AI Native</a:t>
            </a:r>
            <a:r>
              <a:rPr sz="4600" b="1" i="0">
                <a:solidFill>
                  <a:srgbClr val="111111"/>
                </a:solidFill>
                <a:latin typeface="Apple SD Gothic Neo"/>
              </a:rPr>
              <a:t>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33333"/>
                </a:solidFill>
                <a:latin typeface="Apple SD Gothic Neo"/>
              </a:rPr>
              <a:t>Claude Desktop으로 완성하는 업무 생산성 혁신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서울AI재단 5시간 실습형 워크숍</a:t>
            </a:r>
          </a:p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문제 정의부터 PRD, 설계, 구현, 리뷰까지 한 번에 경험한다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5852160"/>
            <a:ext cx="109728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강사 · 무신사 Agentic AI PM · 서울시립대 / 아주대 AI 부문 겸임교수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01 / 77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강사 소개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73736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무신사 Agentic AI PM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서울시립대 / 아주대 AI 부문 겸임교수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금융 AutoML Solution / 의료 Computer Vision Ops / 교육 LLMOps 경험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현재 무신사에서 Agent 서비스 기획 진행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8727" y="1737360"/>
            <a:ext cx="5364327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98727" y="1857360"/>
            <a:ext cx="512432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98727" y="2277360"/>
            <a:ext cx="5124327" cy="34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AutoML Solution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금융 도메인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926080"/>
            <a:ext cx="5364327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8727" y="3046080"/>
            <a:ext cx="512432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DL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8727" y="3466080"/>
            <a:ext cx="5124327" cy="34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Computer Vision Ops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의료 도메인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4114800"/>
            <a:ext cx="5364327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8727" y="4234800"/>
            <a:ext cx="512432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8727" y="4654800"/>
            <a:ext cx="5124327" cy="34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LLMOps Service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교육 도메인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5303520"/>
            <a:ext cx="5364327" cy="100584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8727" y="5423520"/>
            <a:ext cx="512432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8727" y="5843520"/>
            <a:ext cx="5124327" cy="34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Agentic AI PM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무신사 (현재)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02 / 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오늘의 큰 질문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5432907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8640" y="1811640"/>
            <a:ext cx="519290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AI에게 일을 맡긴다는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640" y="2231640"/>
            <a:ext cx="5192907" cy="1328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사람이 무엇을 정의해야 하나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91640"/>
            <a:ext cx="5432907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0147" y="1811640"/>
            <a:ext cx="519290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문서와 코드의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0147" y="2231640"/>
            <a:ext cx="5192907" cy="1328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문서는 어떻게 구현 기준이 되나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09060"/>
            <a:ext cx="5432907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8640" y="4029060"/>
            <a:ext cx="519290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Claude Desktop의 역할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640" y="4449060"/>
            <a:ext cx="5192907" cy="1328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어떤 업무 파트너가 될 수 있나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3909060"/>
            <a:ext cx="5432907" cy="19888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0147" y="4029060"/>
            <a:ext cx="519290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사람의 판단 영역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0147" y="4449060"/>
            <a:ext cx="5192907" cy="1328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사람은 어디서 검토해야 하나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03 / 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오늘 만들 결과물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23C7C"/>
                </a:solidFill>
                <a:latin typeface="Apple SD Gothic Neo"/>
              </a:rPr>
              <a:t>5시간이 끝나면 작은 제품 개발 패키지가 남는다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09441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Problem Statement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PRD v1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설계 문서 (Flowchart, Sequence, ERD)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민원/FAQ 자동화 프로토타입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Prompt v2 + 리뷰 노트와 확장 아이디어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04 / 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5시간 전체 시간표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377440"/>
                <a:gridCol w="5212080"/>
                <a:gridCol w="1920240"/>
              </a:tblGrid>
              <a:tr h="337624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1" i="0">
                          <a:solidFill>
                            <a:srgbClr val="111111"/>
                          </a:solidFill>
                          <a:latin typeface="Apple SD Gothic Neo"/>
                        </a:rPr>
                        <a:t>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1" i="0">
                          <a:solidFill>
                            <a:srgbClr val="111111"/>
                          </a:solidFill>
                          <a:latin typeface="Apple SD Gothic Neo"/>
                        </a:rPr>
                        <a:t>세션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1" i="0">
                          <a:solidFill>
                            <a:srgbClr val="111111"/>
                          </a:solidFill>
                          <a:latin typeface="Apple SD Gothic Neo"/>
                        </a:rPr>
                        <a:t>핵심 내용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1" i="0">
                          <a:solidFill>
                            <a:srgbClr val="111111"/>
                          </a:solidFill>
                          <a:latin typeface="Apple SD Gothic Neo"/>
                        </a:rPr>
                        <a:t>산출물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13:00–13:30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환경 세팅 &amp; 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Claude Desktop, GitHub clone, 실습 환경 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실행 환경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13:30–14:00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문제 정의 &amp; 서비스 이해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FAQ/민원 자동화 시나리오, 사용자 흐름 정의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Problem Statement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14:00–14:30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PRD 작성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기능 정의, 사용자 플로우, 성공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PRD 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14:30–14:40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Break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휴식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14:40–15:10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설계 문서화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아키텍처, Flow, Sequence, 테이블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설계 문서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15:10–15:50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프로토타입 구현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Mock data, API 연결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기능 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15:50–16:00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Break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휴식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16:00–16:40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프로토타입 구현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응답 생성, UI 연결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기능 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16:40–17:10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AI 품질 개선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Prompt 튜닝, Edge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Prompt 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17:10–17:30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코드 리뷰 &amp; 테스트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Claude/Codex 리뷰, 리팩토링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리뷰 노트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17:30–17:50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Q&amp;A / 확장 논의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실무 적용, 확장 방향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인사이트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32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17:50–18:00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Wrap-up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핵심 정리, Best Practice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최종 결과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슬라이드는 설명 자료이자 다음 작업으로 넘어가는 안내판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05 / 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오늘의 실습 시나리오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2194560"/>
            <a:ext cx="2274355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시민 문의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72919" y="2610612"/>
            <a:ext cx="565815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88659" y="2194560"/>
            <a:ext cx="2274355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FAQ 매칭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12939" y="2610612"/>
            <a:ext cx="565815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28679" y="2194560"/>
            <a:ext cx="2274355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응답 초안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52959" y="2610612"/>
            <a:ext cx="565815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68699" y="2194560"/>
            <a:ext cx="2274355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운영자 검토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민원/FAQ 자동화 보조 서비스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반복 문의를 분류하고 FAQ와 연결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응답 초안을 생성한다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운영자가 검토하고 확정한다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06 / 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오늘의 핵심 메시지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23C7C"/>
                </a:solidFill>
                <a:latin typeface="Apple SD Gothic Neo"/>
              </a:rPr>
              <a:t>AI Native는 도구 목록이 아니라 일의 순서다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09441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좋은 결과는 좋은 질문보다 좋은 맥락에서 나온다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문서가 구현 품질을 결정한다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자동화보다 검토 가능한 협업 구조가 먼저다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빠른 개발의 핵심은 작게 나누고 자주 검토하기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07 / 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123C7C"/>
                </a:solidFill>
                <a:latin typeface="Apple SD Gothic Neo"/>
              </a:rPr>
              <a:t>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720" y="2194560"/>
            <a:ext cx="0" cy="0"/>
          </a:xfrm>
          <a:prstGeom prst="line">
            <a:avLst/>
          </a:prstGeom>
          <a:ln w="190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760720" y="2194560"/>
            <a:ext cx="45720" cy="228600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0" y="219456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11111"/>
                </a:solidFill>
                <a:latin typeface="Apple SD Gothic Neo"/>
              </a:rPr>
              <a:t>AI Native Workflow와
Claude Desktop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329184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33333"/>
                </a:solidFill>
                <a:latin typeface="Apple SD Gothic Neo"/>
              </a:rPr>
              <a:t>AI를 흐름 안에 배치한다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9319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이 파트의 산출물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29768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AI Native의 정의와 기존 방식과의 차이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Claude Desktop에 일을 잘 맡기는 공식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프로젝트 폴더 기반 협업 감각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08 / 77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기존 업무 방식과의 차이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828800"/>
            <a:ext cx="541004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11111"/>
                </a:solidFill>
                <a:latin typeface="Apple SD Gothic Neo"/>
              </a:rPr>
              <a:t>Question-based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5410047" cy="4023360"/>
          </a:xfrm>
          <a:prstGeom prst="rect">
            <a:avLst/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44287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필요한 순간마다 AI에게 질문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산출물은 사람이 다시 정리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맥락이 매번 끊김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828800"/>
            <a:ext cx="5410047" cy="54864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ple SD Gothic Neo"/>
              </a:rPr>
              <a:t>Workflow-based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377440"/>
            <a:ext cx="5410047" cy="402336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5887" y="2560320"/>
            <a:ext cx="5044287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산출물이 다음 단계의 입력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문서와 코드가 이어짐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사람은 기준과 검토 담당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26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산출물이 다음 산출물의 재료가 되는 구조를 만든다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09 / 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Claude Desktop의 역할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090007" y="1965960"/>
            <a:ext cx="2011680" cy="8229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Project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84567" y="3611880"/>
            <a:ext cx="2011680" cy="8229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Docs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90007" y="5257800"/>
            <a:ext cx="2011680" cy="8229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5447" y="3611880"/>
            <a:ext cx="2011680" cy="8229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프로젝트 폴더 맥락을 읽고, 문서와 코드를 함께 다루며, 검토 기준을 반영해 개선한다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10 / 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Claude에게 일을 잘 맡기는 기본 공식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2194560"/>
            <a:ext cx="1794601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07833" y="2423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23C7C"/>
                </a:solidFill>
                <a:latin typeface="Apple SD Gothic Neo"/>
              </a:rPr>
              <a:t>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38185" y="2194560"/>
            <a:ext cx="1794601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맥락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7378" y="2423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23C7C"/>
                </a:solidFill>
                <a:latin typeface="Apple SD Gothic Neo"/>
              </a:rPr>
              <a:t>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27730" y="2194560"/>
            <a:ext cx="1794601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산출물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6924" y="2423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23C7C"/>
                </a:solidFill>
                <a:latin typeface="Apple SD Gothic Neo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7276" y="2194560"/>
            <a:ext cx="1794601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제약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6469" y="2423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23C7C"/>
                </a:solidFill>
                <a:latin typeface="Apple SD Gothic Neo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06821" y="2194560"/>
            <a:ext cx="1794601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검토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역할 — 어떤 관점으로 일할지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맥락 — 어떤 문서와 파일을 기준으로 볼지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산출물 — 무엇을 만들어야 하는지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제약 — 무엇은 하지 말아야 하는지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검토 기준 — 성공 여부를 어떻게 판단할지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11 / 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나쁜 요청과 좋은 요청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73736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나쁜 요청 — '앱 만들어줘'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좋은 요청 — 'PRD와 설계 문서를 기준으로 문의 목록 API부터 구현해줘'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차이는 구체성보다 작업 단위와 기준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8727" y="1737360"/>
            <a:ext cx="5364327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98727" y="1857360"/>
            <a:ext cx="512432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98727" y="2277360"/>
            <a:ext cx="5124327" cy="153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앱 만들어줘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쉽게 빠르게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기준 문서 없음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4114800"/>
            <a:ext cx="5364327" cy="21945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8727" y="4234800"/>
            <a:ext cx="512432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8727" y="4654800"/>
            <a:ext cx="5124327" cy="153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PRD와 설계 문서를 기준으로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문의 목록 API부터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변경 파일과 이유 요약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12 / 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실습 저장소 구조 읽기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7830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docs — 강의 문서와 설계 문서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claude — Claude Desktop용 맥락과 프롬프트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apps/api — 백엔드 API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apps/web — 운영자 UI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data/mock — FAQ와 문의 Mock 데이터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783080"/>
            <a:ext cx="5973775" cy="457200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00000" bIns="100000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/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├─ docs/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│   ├─ 00-course-overview.md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│   ├─ 04-prd-faq-automation.md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│   └─ 05-architecture-faq-automation.md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├─ claude/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│   ├─ CLAUDE.md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│   ├─ PROJECT_CONTEXT.md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│   └─ prompts/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├─ apps/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│   ├─ api/   (Express + TS)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│   └─ web/   (React)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└─ data/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└─ mock/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    ├─ faqs.json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    └─ inquiries.json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13 / 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데모 1 · 프로젝트 요약과 4인 역할 분담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5432907" cy="16687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8640" y="1811640"/>
            <a:ext cx="519290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AI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640" y="2231640"/>
            <a:ext cx="5192907" cy="100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문제 정의, PRD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비목표/리스크 관리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91640"/>
            <a:ext cx="5432907" cy="16687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0147" y="1811640"/>
            <a:ext cx="519290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UX 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0147" y="2231640"/>
            <a:ext cx="5192907" cy="100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사용자 흐름, UI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Flowchart 담당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89020"/>
            <a:ext cx="5432907" cy="16687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8640" y="3709020"/>
            <a:ext cx="519290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Backend Engineer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640" y="4129020"/>
            <a:ext cx="5192907" cy="100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API, 데이터 모델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Sequence/ERD 담당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3589020"/>
            <a:ext cx="5432907" cy="16687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0147" y="3709020"/>
            <a:ext cx="519290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Quality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0147" y="4129020"/>
            <a:ext cx="5192907" cy="100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테스트, Edge case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리뷰 노트 담당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Claude Desktop에 프로젝트 폴더를 열고 claude/PROJECT_CONTEXT.md를 먼저 읽힌다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참고 — docs/13-ai-developer-intern-lab-plan.md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14 / 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123C7C"/>
                </a:solidFill>
                <a:latin typeface="Apple SD Gothic Neo"/>
              </a:rPr>
              <a:t>03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720" y="2194560"/>
            <a:ext cx="0" cy="0"/>
          </a:xfrm>
          <a:prstGeom prst="line">
            <a:avLst/>
          </a:prstGeom>
          <a:ln w="190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760720" y="2194560"/>
            <a:ext cx="45720" cy="228600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0" y="219456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11111"/>
                </a:solidFill>
                <a:latin typeface="Apple SD Gothic Neo"/>
              </a:rPr>
              <a:t>문제 정의 &amp;
서비스 이해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329184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33333"/>
                </a:solidFill>
                <a:latin typeface="Apple SD Gothic Neo"/>
              </a:rPr>
              <a:t>기능 목록 이전에 문제와 사용자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9319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이 파트의 산출물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29768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Problem Statement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사용자별 불편 분리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자동화 가능/제외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15 / 77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자동화할 수 있는 일과 하면 안 되는 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828800"/>
            <a:ext cx="3515258" cy="54864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ple SD Gothic Neo"/>
              </a:rPr>
              <a:t>할 수 있는 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3515258" cy="402336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149498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분류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FAQ 매칭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응답 초안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검토 포인트 제안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8218" y="1828800"/>
            <a:ext cx="351525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11111"/>
                </a:solidFill>
                <a:latin typeface="Apple SD Gothic Neo"/>
              </a:rPr>
              <a:t>조심할 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8218" y="2377440"/>
            <a:ext cx="3515258" cy="4023360"/>
          </a:xfrm>
          <a:prstGeom prst="rect">
            <a:avLst/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1098" y="2560320"/>
            <a:ext cx="3149498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정책 판단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민감 민원 처리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개인정보 포함 문의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7796" y="1828800"/>
            <a:ext cx="351525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11111"/>
                </a:solidFill>
                <a:latin typeface="Apple SD Gothic Neo"/>
              </a:rPr>
              <a:t>하지 말아야 할 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7796" y="2377440"/>
            <a:ext cx="3515258" cy="4023360"/>
          </a:xfrm>
          <a:prstGeom prst="rect">
            <a:avLst/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0676" y="2560320"/>
            <a:ext cx="3149498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운영자 승인 없는 자동 발송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26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자동화 가능성만 보지 말고, 자동화 위험 영역도 함께 정한다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16 / 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사용자 관점으로 문제 보기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3545738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8640" y="181164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시민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640" y="2231640"/>
            <a:ext cx="3305738" cy="290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빠르고 정확한 답변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91640"/>
            <a:ext cx="3545738" cy="3566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2978" y="181164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운영자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2978" y="2231640"/>
            <a:ext cx="3305738" cy="290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반복 답변 시간 단축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검토 가능한 초안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691640"/>
            <a:ext cx="3545738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7316" y="181164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관리자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7316" y="2231640"/>
            <a:ext cx="3305738" cy="290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처리량과 품질 편차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리스크 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문제 정의는 기능 목록이 아니라, 누가 어떤 불편을 겪는지 분리해서 보는 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17 / 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Problem Statement의 역할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2194560"/>
            <a:ext cx="2274355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Problem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72919" y="2610612"/>
            <a:ext cx="565815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88659" y="2194560"/>
            <a:ext cx="2274355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PRD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12939" y="2610612"/>
            <a:ext cx="565815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28679" y="2194560"/>
            <a:ext cx="2274355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Design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52959" y="2610612"/>
            <a:ext cx="565815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68699" y="2194560"/>
            <a:ext cx="2274355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무엇이 문제인지 한 문단으로 정리한다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왜 지금 해결해야 하는지 설명한다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해결 범위와 비범위를 구분한다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이후 PRD와 설계의 기준이 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18 / 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문제 정의 프롬프트 예시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1463040" cy="384048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300" b="1" i="0">
                <a:solidFill>
                  <a:srgbClr val="123C7C"/>
                </a:solidFill>
                <a:latin typeface="Apple SD Gothic Neo"/>
              </a:rPr>
              <a:t>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역할 — AI PM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맥락 — 민원/FAQ 자동화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산출물 — Problem Statement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제약 — 완전 자동 발송은 제외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기준 — 공공기관 실무에 맞는 표현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37360"/>
            <a:ext cx="4967935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claude/prompts/01-problem-framing.md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2240280"/>
            <a:ext cx="4967935" cy="406908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51073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너는 공공기관 민원 운영을 이해하는 AI PM이야.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민원/FAQ 자동화 보조 서비스를 위한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Problem Statement 초안을 만들어줘.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포함: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시민/운영자/관리자별 불편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자동화 가능 범위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자동화 제외 범위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성공의 정의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제약: 완전 자동 발송은 제외한다.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19 / 77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실습 1 · Problem Statement 만들기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2200" b="1" i="0">
                <a:solidFill>
                  <a:srgbClr val="111111"/>
                </a:solidFill>
                <a:latin typeface="Apple SD Gothic Neo"/>
              </a:rPr>
              <a:t>AI PM이 초안 → 나머지 3명이 누락 관점 리뷰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5720" cy="7315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728655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claude/prompts/01-problem-framing.md를 사용한다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운영자, 시민, 관리자 문제를 분리한다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자동화 가능 범위와 제외 범위를 함께 적는다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결과를 docs 문서와 비교한다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20 / 77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문제 정의 결과 리뷰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2200" b="1" i="0">
                <a:solidFill>
                  <a:srgbClr val="111111"/>
                </a:solidFill>
                <a:latin typeface="Apple SD Gothic Neo"/>
              </a:rPr>
              <a:t>지금은 멋진지보다 다음 단계로 넘길 수 있는지를 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5720" cy="7315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728655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문제가 기능으로만 쓰이지 않았는가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사용자별 불편이 분리되었는가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자동화 제외 범위가 있는가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이후 PRD로 이어질 만큼 명확한가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21 / 77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123C7C"/>
                </a:solidFill>
                <a:latin typeface="Apple SD Gothic Neo"/>
              </a:rPr>
              <a:t>04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720" y="2194560"/>
            <a:ext cx="0" cy="0"/>
          </a:xfrm>
          <a:prstGeom prst="line">
            <a:avLst/>
          </a:prstGeom>
          <a:ln w="190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760720" y="2194560"/>
            <a:ext cx="45720" cy="228600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0" y="219456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11111"/>
                </a:solidFill>
                <a:latin typeface="Apple SD Gothic Neo"/>
              </a:rPr>
              <a:t>PRD 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329184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33333"/>
                </a:solidFill>
                <a:latin typeface="Apple SD Gothic Neo"/>
              </a:rPr>
              <a:t>구현 기준이자 의사결정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9319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이 파트의 산출물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29768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MVP PRD v1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비목표와 성공 지표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Leadership / Designer / Engineer 리뷰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22 / 77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좋은 PRD의 최소 구성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3545738" cy="16687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8640" y="181164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문제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640" y="2231640"/>
            <a:ext cx="3305738" cy="100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왜 만드는가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91640"/>
            <a:ext cx="3545738" cy="16687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2978" y="181164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사용자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2978" y="2231640"/>
            <a:ext cx="3305738" cy="100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누가 쓰는가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691640"/>
            <a:ext cx="3545738" cy="166878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7316" y="181164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핵심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7316" y="2231640"/>
            <a:ext cx="3305738" cy="100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MVP 범위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89020"/>
            <a:ext cx="3545738" cy="16687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640" y="370902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비목표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640" y="4129020"/>
            <a:ext cx="3305738" cy="100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하지 않는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978" y="3589020"/>
            <a:ext cx="3545738" cy="16687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2978" y="370902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성공 지표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2978" y="4129020"/>
            <a:ext cx="3305738" cy="100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어떻게 판단하나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3589020"/>
            <a:ext cx="3545738" cy="16687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7316" y="370902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리스크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316" y="4129020"/>
            <a:ext cx="3305738" cy="100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오픈 질문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오늘은 1일 내 프로토타입 가능한 최소 PRD를 만든다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23 / 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MVP 범위 제한이 중요한 이유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23C7C"/>
                </a:solidFill>
                <a:latin typeface="Apple SD Gothic Neo"/>
              </a:rPr>
              <a:t>AI는 범위를 넓히는 데 능하다 — 좁히는 것이 PM의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09441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실습 시간은 제한되어 있다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MVP는 작아야 완성된다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완성된 작은 기능이 확장 논의의 출발점이다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24 / 77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민원/FAQ 자동화 MVP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2200" b="1" i="0">
                <a:solidFill>
                  <a:srgbClr val="111111"/>
                </a:solidFill>
                <a:latin typeface="Apple SD Gothic Neo"/>
              </a:rPr>
              <a:t>운영자가 문의를 보고 AI 초안을 검토하는 흐름까지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5720" cy="7315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728655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Mock 데이터 기반 문의 목록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문의 상세 보기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FAQ 매칭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응답 초안 생성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운영자 검토 포인트 표시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25 / 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성공 기준은 어떻게 잡을까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828800"/>
            <a:ext cx="351525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11111"/>
                </a:solidFill>
                <a:latin typeface="Apple SD Gothic Neo"/>
              </a:rPr>
              <a:t>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3515258" cy="4023360"/>
          </a:xfrm>
          <a:prstGeom prst="rect">
            <a:avLst/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149498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응답 초안 작성 시간 단축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반복 문의 처리 속도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8218" y="1828800"/>
            <a:ext cx="3515258" cy="54864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ple SD Gothic Neo"/>
              </a:rPr>
              <a:t>Quality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8218" y="2377440"/>
            <a:ext cx="3515258" cy="402336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1098" y="2560320"/>
            <a:ext cx="3149498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운영자 검토 가능성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톤과 정확성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7796" y="1828800"/>
            <a:ext cx="351525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11111"/>
                </a:solidFill>
                <a:latin typeface="Apple SD Gothic Neo"/>
              </a:rPr>
              <a:t>Safety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7796" y="2377440"/>
            <a:ext cx="3515258" cy="4023360"/>
          </a:xfrm>
          <a:prstGeom prst="rect">
            <a:avLst/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0676" y="2560320"/>
            <a:ext cx="3149498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FAQ 미매칭 처리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확정 표현 제한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26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기능의 성공 기준은 정확도 하나로 끝나지 않는다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26 / 77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PRD 작성 프롬프트 예시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1463040" cy="384048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300" b="1" i="0">
                <a:solidFill>
                  <a:srgbClr val="123C7C"/>
                </a:solidFill>
                <a:latin typeface="Apple SD Gothic Neo"/>
              </a:rPr>
              <a:t>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참고 문서 — Problem Statement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목표 — MVP PRD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포함 항목 — 사용자, 기능, 비목표, 성공 지표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제약 — 1일 내 프로토타입 가능한 수준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37360"/>
            <a:ext cx="4967935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claude/prompts/02-prd-writing.md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2240280"/>
            <a:ext cx="4967935" cy="406908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51073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Problem Statement를 입력으로 사용해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민원/FAQ 자동화의 MVP PRD를 작성해줘.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포함: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사용자 (시민/운영자/관리자)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핵심 기능 (분류/매칭/초안/검토)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비목표 (자동 발송, 관리자 콘솔)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성공 지표 (Metric/Quality/Safety)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리스크 / 오픈 질문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범위: 1일 내 프로토타입 가능한 수준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27 / 77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실습 2 · PRD v1 만들기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2200" b="1" i="0">
                <a:solidFill>
                  <a:srgbClr val="111111"/>
                </a:solidFill>
                <a:latin typeface="Apple SD Gothic Neo"/>
              </a:rPr>
              <a:t>Problem Statement → PRD → 3관점 리뷰 준비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5720" cy="7315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728655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Problem Statement를 입력으로 사용한다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docs/templates/prd-template.md 구조를 따른다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MVP 범위를 작게 유지한다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비목표와 리스크를 반드시 포함한다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Leadership / Designer / Engineer 관점으로 1차 리뷰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28 / 77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PRD는 세 관점으로 리뷰한다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3545738" cy="3566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8640" y="181164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Leadership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640" y="2231640"/>
            <a:ext cx="3305738" cy="290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회사에 왜 필요한가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Business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91640"/>
            <a:ext cx="3545738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2978" y="181164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UI/UX Designer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2978" y="2231640"/>
            <a:ext cx="3305738" cy="290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사용자가 잘 쓸 수 있는가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User Experience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691640"/>
            <a:ext cx="3545738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7316" y="181164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Engineer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7316" y="2231640"/>
            <a:ext cx="3305738" cy="290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구현 가능한가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Technical Feasibility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참고 — docs/12-prd-review-perspectives.md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29 / 77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123C7C"/>
                </a:solidFill>
                <a:latin typeface="Apple SD Gothic Neo"/>
              </a:rPr>
              <a:t>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720" y="2194560"/>
            <a:ext cx="0" cy="0"/>
          </a:xfrm>
          <a:prstGeom prst="line">
            <a:avLst/>
          </a:prstGeom>
          <a:ln w="190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760720" y="2194560"/>
            <a:ext cx="45720" cy="228600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0" y="219456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11111"/>
                </a:solidFill>
                <a:latin typeface="Apple SD Gothic Neo"/>
              </a:rPr>
              <a:t>설계 문서화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329184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33333"/>
                </a:solidFill>
                <a:latin typeface="Apple SD Gothic Neo"/>
              </a:rPr>
              <a:t>PRD를 구현 가능한 구조로 옮긴다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9319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이 파트의 산출물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29768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Flowchart / Sequence / ERD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API 계약과 데이터 모델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AI Layer 분리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30 / 77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Mermaid로 먼저 그릴 3가지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3545738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8640" y="181164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Flowchart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640" y="2231640"/>
            <a:ext cx="3305738" cy="290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사용자 흐름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어떤 순서로 쓰는가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91640"/>
            <a:ext cx="3545738" cy="3566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2978" y="181164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Sequence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2978" y="2231640"/>
            <a:ext cx="3305738" cy="290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호출 순서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Web/API/AI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691640"/>
            <a:ext cx="3545738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7316" y="181164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ERD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7316" y="2231640"/>
            <a:ext cx="3305738" cy="290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데이터 구조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Inquiry/FAQ/Recommendation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참고 — docs/11-mermaid-diagram-guide.md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31 / 77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Flowchart · 사용자 흐름 먼저 보기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2194560"/>
            <a:ext cx="1299631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시민 문의 접수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873233" y="2610612"/>
            <a:ext cx="282907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81103" y="2194560"/>
            <a:ext cx="1299631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운영자 목록 확인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05697" y="2610612"/>
            <a:ext cx="282907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13567" y="2194560"/>
            <a:ext cx="1299631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문의 상세 선택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38161" y="2610612"/>
            <a:ext cx="282907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46031" y="2194560"/>
            <a:ext cx="1299631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FAQ 매칭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770625" y="2610612"/>
            <a:ext cx="282907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78495" y="2194560"/>
            <a:ext cx="1299631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응답 초안 생성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403089" y="2610612"/>
            <a:ext cx="282907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10959" y="2194560"/>
            <a:ext cx="1299631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운영자 검토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035553" y="2610612"/>
            <a:ext cx="282907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343423" y="2194560"/>
            <a:ext cx="1299631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응답 확정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자동 발송이 아니라 사람 검토를 반드시 거친다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32 / 77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Sequence Diagram · API 호출 순서 보기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43681" y="173736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500" b="1" i="0">
                <a:solidFill>
                  <a:srgbClr val="123C7C"/>
                </a:solidFill>
                <a:latin typeface="Apple SD Gothic Neo"/>
              </a:rPr>
              <a:t>Operator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58081" y="2240280"/>
            <a:ext cx="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58081" y="2240280"/>
            <a:ext cx="0" cy="338328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62564" y="173736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500" b="1" i="0">
                <a:solidFill>
                  <a:srgbClr val="123C7C"/>
                </a:solidFill>
                <a:latin typeface="Apple SD Gothic Neo"/>
              </a:rPr>
              <a:t>Web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76964" y="2240280"/>
            <a:ext cx="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76964" y="2240280"/>
            <a:ext cx="0" cy="338328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81447" y="173736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500" b="1" i="0">
                <a:solidFill>
                  <a:srgbClr val="123C7C"/>
                </a:solidFill>
                <a:latin typeface="Apple SD Gothic Neo"/>
              </a:rPr>
              <a:t>API Server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7" y="2240280"/>
            <a:ext cx="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5847" y="2240280"/>
            <a:ext cx="0" cy="338328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00330" y="173736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500" b="1" i="0">
                <a:solidFill>
                  <a:srgbClr val="123C7C"/>
                </a:solidFill>
                <a:latin typeface="Apple SD Gothic Neo"/>
              </a:rPr>
              <a:t>AI Layer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14730" y="2240280"/>
            <a:ext cx="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14730" y="2240280"/>
            <a:ext cx="0" cy="338328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19213" y="173736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500" b="1" i="0">
                <a:solidFill>
                  <a:srgbClr val="123C7C"/>
                </a:solidFill>
                <a:latin typeface="Apple SD Gothic Neo"/>
              </a:rPr>
              <a:t>Mock 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33613" y="2240280"/>
            <a:ext cx="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533613" y="2240280"/>
            <a:ext cx="0" cy="338328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26060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1.  Operator → Web : 문의 상세 선택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089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2.  Web → API : GET /api/inquiries/:id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118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3.  API → Data : 문의와 FAQ 조회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4.  API → AI : 추천 결과 생성 요청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1772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5.  AI → API : category, draftReply, reviewNotes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6.  API → Web : InquiryDetailResponse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7.  Web → Operator : 상세 화면 표시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33 / 77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ERD · 데이터 구조 보기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990523" y="1828800"/>
            <a:ext cx="3108960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INQUIRY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523" y="2331720"/>
            <a:ext cx="31089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3403" y="2514600"/>
            <a:ext cx="2743200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Menlo"/>
              </a:rPr>
              <a:t>id  PK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Menlo"/>
              </a:rPr>
              <a:t>status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Menlo"/>
              </a:rPr>
              <a:t>subject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Menlo"/>
              </a:rPr>
              <a:t>message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Menlo"/>
              </a:rPr>
              <a:t>priority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41367" y="1828800"/>
            <a:ext cx="3108960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1367" y="2331720"/>
            <a:ext cx="31089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247" y="2514600"/>
            <a:ext cx="2743200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Menlo"/>
              </a:rPr>
              <a:t>id  PK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Menlo"/>
              </a:rPr>
              <a:t>inquiryId  FK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Menlo"/>
              </a:rPr>
              <a:t>category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Menlo"/>
              </a:rPr>
              <a:t>draftReply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Menlo"/>
              </a:rPr>
              <a:t>reviewNotes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211" y="1828800"/>
            <a:ext cx="3108960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FAQ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211" y="2331720"/>
            <a:ext cx="31089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091" y="2514600"/>
            <a:ext cx="2743200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Menlo"/>
              </a:rPr>
              <a:t>id  PK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Menlo"/>
              </a:rPr>
              <a:t>category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Menlo"/>
              </a:rPr>
              <a:t>question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Menlo"/>
              </a:rPr>
              <a:t>answer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99483" y="3474720"/>
            <a:ext cx="441884" cy="0"/>
          </a:xfrm>
          <a:prstGeom prst="line">
            <a:avLst/>
          </a:prstGeom>
          <a:ln w="190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99483" y="3154680"/>
            <a:ext cx="4418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1 : 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50327" y="3474720"/>
            <a:ext cx="441884" cy="0"/>
          </a:xfrm>
          <a:prstGeom prst="line">
            <a:avLst/>
          </a:prstGeom>
          <a:ln w="190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50327" y="3154680"/>
            <a:ext cx="4418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n :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34 / 77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API 설계 초안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685800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1" i="0">
                          <a:solidFill>
                            <a:srgbClr val="111111"/>
                          </a:solidFill>
                          <a:latin typeface="Apple SD Gothic Neo"/>
                        </a:rPr>
                        <a:t>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1" i="0">
                          <a:solidFill>
                            <a:srgbClr val="111111"/>
                          </a:solidFill>
                          <a:latin typeface="Apple SD Gothic Neo"/>
                        </a:rPr>
                        <a:t>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1" i="0">
                          <a:solidFill>
                            <a:srgbClr val="111111"/>
                          </a:solidFill>
                          <a:latin typeface="Apple SD Gothic Neo"/>
                        </a:rPr>
                        <a:t>역할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/health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서버 상태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/api/faqs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FAQ 전체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/api/inquiries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문의 목록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/api/inquiries/:id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문의 상세 + 추천 결과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/api/inquiries/:id/recommendation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분류·매칭·초안·검토 포인트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오늘 데모는 목록 / 상세 / 추천 생성 정도면 충분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35 / 77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AI Layer를 분리하는 이유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73736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Mock 규칙 기반으로도 데모 가능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나중에 LLM API로 교체 가능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분류, 매칭, 응답 생성을 따로 개선 가능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품질 평가 지점을 분리할 수 있음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8727" y="1737360"/>
            <a:ext cx="5364327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98727" y="1857360"/>
            <a:ext cx="512432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98727" y="2277360"/>
            <a:ext cx="5124327" cy="153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Rule-based AI Layer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data/mock 활용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강의 중 안정 동작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4114800"/>
            <a:ext cx="5364327" cy="21945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8727" y="4234800"/>
            <a:ext cx="512432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Later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8727" y="4654800"/>
            <a:ext cx="5124327" cy="153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Claude API / 다른 LLM 교체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RAG / 정책 검색 추가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평가 데이터 축적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36 / 77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설계 문서 작성 프롬프트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1463040" cy="384048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300" b="1" i="0">
                <a:solidFill>
                  <a:srgbClr val="123C7C"/>
                </a:solidFill>
                <a:latin typeface="Apple SD Gothic Neo"/>
              </a:rPr>
              <a:t>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역할 — Tech Lead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기준 문서 — PRD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산출물 — architecture, API, data model, AI flow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제약 — 강의용으로 이해하기 쉬운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37360"/>
            <a:ext cx="4967935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claude/prompts/03-system-design.md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2240280"/>
            <a:ext cx="4967935" cy="406908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51073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PRD를 입력으로 사용해 설계 문서를 작성해줘.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포함: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Mermaid Flowchart (사용자 흐름)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Mermaid Sequence (Web/API/AI 호출 순서)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Mermaid ERD (Inquiry/FAQ/Recommendation)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API Contract (Method, Path, Body)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AI Layer 입출력 명세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구조: 강의용으로 이해하기 쉽게.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37 / 77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실습 3 · 설계 문서 만들기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2200" b="1" i="0">
                <a:solidFill>
                  <a:srgbClr val="111111"/>
                </a:solidFill>
                <a:latin typeface="Apple SD Gothic Neo"/>
              </a:rPr>
              <a:t>PRD → Mermaid → 설계 → 구현 순서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5720" cy="7315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728655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PRD를 입력으로 사용한다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Flowchart, Sequence, ERD를 작성한다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API, 데이터 모델, AI Layer를 정리한다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구현 순서를 함께 뽑는다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UX Builder는 Flow, Backend는 Sequence/ERD, Quality는 상태/테스트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38 / 77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구현 전 최종 확인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2200" b="1" i="0">
                <a:solidFill>
                  <a:srgbClr val="111111"/>
                </a:solidFill>
                <a:latin typeface="Apple SD Gothic Neo"/>
              </a:rPr>
              <a:t>이 네 가지가 분명해야 Claude가 어긋나지 않는다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5720" cy="7315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728655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무엇을 먼저 만들 것인가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어떤 Mock 데이터를 쓸 것인가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API 응답 형태는 무엇인가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UI는 어떤 정보를 보여줄 것인가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39 / 77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PART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123C7C"/>
                </a:solidFill>
                <a:latin typeface="Apple SD Gothic Neo"/>
              </a:rPr>
              <a:t>06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720" y="2194560"/>
            <a:ext cx="0" cy="0"/>
          </a:xfrm>
          <a:prstGeom prst="line">
            <a:avLst/>
          </a:prstGeom>
          <a:ln w="190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760720" y="2194560"/>
            <a:ext cx="45720" cy="228600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0" y="219456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11111"/>
                </a:solidFill>
                <a:latin typeface="Apple SD Gothic Neo"/>
              </a:rPr>
              <a:t>프로토타입 구현 1
API와 Mock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329184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33333"/>
                </a:solidFill>
                <a:latin typeface="Apple SD Gothic Neo"/>
              </a:rPr>
              <a:t>작은 단위로 자주 실행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9319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이 파트의 산출물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29768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MVP API 5개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Mock 데이터 연결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기능 v1 (서버 실행 가능)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40 / 77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Mock Data의 역할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73736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네트워크나 DB 없이 데모 가능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입력과 출력 예시를 고정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AI 결과 품질 비교가 쉬움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강의 중 실패 리스크 감소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737360"/>
            <a:ext cx="5608015" cy="457200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00000" bIns="100000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// data/mock/faqs.json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[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{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"id": "faq-001",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"category": "민원처리",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"question": "민원 처리 기간은 얼마인가요?",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"answer": "일반 민원은 7일 이내…"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}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]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// data/mock/inquiries.json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[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{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"id": "inq-001",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"subject": "민원 처리 기간 문의",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"status": "open"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}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41 / 77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API 구현 요청 예시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1463040" cy="384048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300" b="1" i="0">
                <a:solidFill>
                  <a:srgbClr val="123C7C"/>
                </a:solidFill>
                <a:latin typeface="Apple SD Gothic Neo"/>
              </a:rPr>
              <a:t>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기준 문서 — docs/04-prd-faq-automation.md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기준 문서 — docs/05-architecture-faq-automation.md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범위 — apps/api MVP API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데이터 — data/mock 사용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산출물 — 변경 파일과 이유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37360"/>
            <a:ext cx="4967935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claude/prompts/04-implementation.md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2240280"/>
            <a:ext cx="4967935" cy="406908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51073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docs/04-prd-faq-automation.md 와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docs/05-architecture-faq-automation.md 를 기준으로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apps/api 의 MVP API를 구현해줘.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Mock 데이터는 data/mock/ 을 사용한다.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구현 후 변경된 파일 목록과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각 파일의 변경 이유를 요약해줘.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42 / 77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문의 목록 API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73736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GET /api/inquiries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id, status, subject, channel, priority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운영자 화면의 첫 데이터 소스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737360"/>
            <a:ext cx="5608015" cy="457200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00000" bIns="100000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GET /api/inquiries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[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{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"id": "inq-001",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"status": "open",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"subject": "민원 처리 기간 문의",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"channel": "web",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"priority": "normal"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},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{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"id": "inq-002",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"status": "in_review",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"subject": "개인정보 정정 요청",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"channel": "phone",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"priority": "high"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}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43 / 77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문의 상세 API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73736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GET /api/inquiries/:id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원문 + 추천 결과를 함께 반환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UI 상세 패널의 데이터 소스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737360"/>
            <a:ext cx="5608015" cy="457200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00000" bIns="100000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GET /api/inquiries/inq-001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{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"inquiry": {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"id": "inq-001",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"subject": "민원 처리 기간 문의",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"message": "제가 5월 1일에 신청한…"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},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"recommendation": {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"category": "민원처리",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"matchedFaqs": ["faq-001"],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"draftReply": "안녕하세요, 시민님…",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"reviewNotes": [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  "실제 접수일 확인이 필요"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]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}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44 / 77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추천 생성 API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2194560"/>
            <a:ext cx="1819484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Inquiry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05567" y="2610612"/>
            <a:ext cx="424361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67372" y="2194560"/>
            <a:ext cx="1819484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Category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24300" y="2610612"/>
            <a:ext cx="424361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86105" y="2194560"/>
            <a:ext cx="1819484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FAQ Match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43033" y="2610612"/>
            <a:ext cx="424361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04838" y="2194560"/>
            <a:ext cx="1819484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Draft Reply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61765" y="2610612"/>
            <a:ext cx="424361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23570" y="2194560"/>
            <a:ext cx="1819484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Review Notes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6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POST /api/inquiries/:id/recommendation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카테고리 분류 / FAQ 매칭 / 응답 초안 / 검토 포인트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오늘 데모의 핵심 기능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45 / 77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데모 2 · API 서버 실행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73736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의존성 설치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API 개발 서버 실행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/health 확인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문의 목록 API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737360"/>
            <a:ext cx="5608015" cy="457200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00000" bIns="100000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$ npm install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$ npm run dev:api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▶ api server listening on :4000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$ curl http://localhost:4000/health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{ "status": "ok" }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$ curl http://localhost:4000/api/inquiries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[ ...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46 / 77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실습 4 · API 응답 확인하기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2200" b="1" i="0">
                <a:solidFill>
                  <a:srgbClr val="111111"/>
                </a:solidFill>
                <a:latin typeface="Apple SD Gothic Neo"/>
              </a:rPr>
              <a:t>추천 결과의 reviewNotes가 함께 오는지 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5720" cy="7315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728655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/health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/api/faqs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/api/inquiries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/api/inquiries/:id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추천 결과의 reviewNotes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47 / 77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API 구현 리뷰 포인트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2200" b="1" i="0">
                <a:solidFill>
                  <a:srgbClr val="111111"/>
                </a:solidFill>
                <a:latin typeface="Apple SD Gothic Neo"/>
              </a:rPr>
              <a:t>데이터 / 라우트 / AI 로직이 분리되어 있는가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5720" cy="7315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728655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Mock 데이터가 분리되어 있는가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AI 로직이 별도 함수로 분리되어 있는가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없는 문의 id에 404를 반환하는가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응답 형태가 UI에서 쓰기 쉬운가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48 / 77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PART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123C7C"/>
                </a:solidFill>
                <a:latin typeface="Apple SD Gothic Neo"/>
              </a:rPr>
              <a:t>07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720" y="2194560"/>
            <a:ext cx="0" cy="0"/>
          </a:xfrm>
          <a:prstGeom prst="line">
            <a:avLst/>
          </a:prstGeom>
          <a:ln w="190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760720" y="2194560"/>
            <a:ext cx="45720" cy="228600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0" y="219456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11111"/>
                </a:solidFill>
                <a:latin typeface="Apple SD Gothic Neo"/>
              </a:rPr>
              <a:t>프로토타입 구현 2
UI와 응답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329184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33333"/>
                </a:solidFill>
                <a:latin typeface="Apple SD Gothic Neo"/>
              </a:rPr>
              <a:t>운영자 콘솔로서의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9319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이 파트의 산출물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29768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목록 / 상세 2단 레이아웃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추천 결과 + 검토 포인트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기능 v2 (E2E 데모 완성)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49 / 77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UI 구성 요소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73736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상단 — 서비스 제목과 목적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좌측 — 문의 목록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우측 — 상세 문의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우측 내부 — 응답 초안, 검토 포인트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6278727" y="1737360"/>
            <a:ext cx="5364327" cy="4389120"/>
          </a:xfrm>
          <a:prstGeom prst="rect">
            <a:avLst/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 i="1">
                <a:solidFill>
                  <a:srgbClr val="333333"/>
                </a:solidFill>
                <a:latin typeface="Apple SD Gothic Neo"/>
              </a:rPr>
              <a:t>wireframe placeholder
┌─ Header ──────────────┐
│ 좌측 목록 │ 우측 상세 │
│           │ 추천 결과 │
│           │ 검토 포인트│
└───────────────────────┘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50 / 77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UI 구현 요청 예시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1463040" cy="384048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300" b="1" i="0">
                <a:solidFill>
                  <a:srgbClr val="123C7C"/>
                </a:solidFill>
                <a:latin typeface="Apple SD Gothic Neo"/>
              </a:rPr>
              <a:t>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범위 — apps/web 운영자 화면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API 계약 유지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목록/상세 2단 레이아웃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강의용 가독성 우선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37360"/>
            <a:ext cx="4967935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claude/prompts/04-implementation.md (UI)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2240280"/>
            <a:ext cx="4967935" cy="406908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51073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apps/web 에서 운영자 화면을 만들어줘.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API 계약은 apps/api 와 정확히 맞추고,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목록 / 상세 2단 레이아웃을 사용한다.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상세 패널에는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문의 원문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카테고리 / FAQ 매칭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응답 초안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검토 포인트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를 함께 표시한다.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코드는 강의에서 읽기 쉽게 작성해줘.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51 / 77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데모 3 · Web 앱 실행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73736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Web 개발 서버 실행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문의 목록 → 선택 → 상세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응답 초안과 검토 포인트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737360"/>
            <a:ext cx="5608015" cy="457200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00000" bIns="100000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23C7C"/>
                </a:solidFill>
                <a:latin typeface="Menlo"/>
              </a:rPr>
              <a:t>$ npm run dev:web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▶ web running on http://localhost:5173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→ 브라우저 열기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→ 좌측 목록에서 문의 선택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→ 우측 상세 패널 확인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→ 추천 결과의 reviewNotes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52 / 77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실습 5 · UI에서 문의 흐름 확인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2200" b="1" i="0">
                <a:solidFill>
                  <a:srgbClr val="111111"/>
                </a:solidFill>
                <a:latin typeface="Apple SD Gothic Neo"/>
              </a:rPr>
              <a:t>이때부터는 품질 판단의 눈을 함께 가져간다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5720" cy="7315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728655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각 문의를 선택한다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카테고리가 어떻게 바뀌는지 본다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FAQ 매칭 수를 확인한다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응답 초안의 톤을 확인한다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검토 포인트가 적절한지 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53 / 77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응답 초안에서 봐야 할 것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2200" b="1" i="0">
                <a:solidFill>
                  <a:srgbClr val="111111"/>
                </a:solidFill>
                <a:latin typeface="Apple SD Gothic Neo"/>
              </a:rPr>
              <a:t>정책상 확정할 수 없는 것을 확정하지 않는가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5720" cy="7315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728655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친절한가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과도하게 확정하지 않는가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FAQ 근거와 맞는가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추가 확인이 필요한 부분을 남기는가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54 / 77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기능 v2의 기준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828800"/>
            <a:ext cx="541004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11111"/>
                </a:solidFill>
                <a:latin typeface="Apple SD Gothic Neo"/>
              </a:rPr>
              <a:t>v1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5410047" cy="4023360"/>
          </a:xfrm>
          <a:prstGeom prst="rect">
            <a:avLst/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44287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API 응답만 확인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추천 결과를 raw로 봄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828800"/>
            <a:ext cx="5410047" cy="54864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ple SD Gothic Neo"/>
              </a:rPr>
              <a:t>v2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377440"/>
            <a:ext cx="5410047" cy="402336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5887" y="2560320"/>
            <a:ext cx="5044287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목록 → 상세 흐름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추천 결과 / 초안 / 검토 포인트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데모 중 끊기지 않음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26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거창한 완성본이 아니라, 핵심 흐름이 끊기지 않으면 충분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55 / 77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PART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123C7C"/>
                </a:solidFill>
                <a:latin typeface="Apple SD Gothic Neo"/>
              </a:rPr>
              <a:t>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720" y="2194560"/>
            <a:ext cx="0" cy="0"/>
          </a:xfrm>
          <a:prstGeom prst="line">
            <a:avLst/>
          </a:prstGeom>
          <a:ln w="190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760720" y="2194560"/>
            <a:ext cx="45720" cy="228600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0" y="219456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11111"/>
                </a:solidFill>
                <a:latin typeface="Apple SD Gothic Neo"/>
              </a:rPr>
              <a:t>AI 품질 개선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329184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33333"/>
                </a:solidFill>
                <a:latin typeface="Apple SD Gothic Neo"/>
              </a:rPr>
              <a:t>Generate → Review → Tune →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9319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이 파트의 산출물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29768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분류 / 응답 / 검토 품질 진단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Edge case 대응 룰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Prompt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56 / 77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품질 개선의 세 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2194560"/>
            <a:ext cx="334457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분류 품질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57802" y="2423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23C7C"/>
                </a:solidFill>
                <a:latin typeface="Apple SD Gothic Neo"/>
              </a:rPr>
              <a:t>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88154" y="2194560"/>
            <a:ext cx="334457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응답 품질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7316" y="2423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23C7C"/>
                </a:solidFill>
                <a:latin typeface="Apple SD Gothic Neo"/>
              </a:rPr>
              <a:t>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27668" y="2194560"/>
            <a:ext cx="334457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검토 품질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문의를 잘 분류하는지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답변 초안이 적절한지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운영자 확인 포인트를 잘 남기는지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57 / 77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Edge Case 예시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3545738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8640" y="181164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FAQ에 없는 문의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640" y="2231640"/>
            <a:ext cx="3305738" cy="1328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근거 없는 답변 위험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91640"/>
            <a:ext cx="3545738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2978" y="181164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감정이 강한 민원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2978" y="2231640"/>
            <a:ext cx="3305738" cy="1328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톤 조절 필요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691640"/>
            <a:ext cx="3545738" cy="19888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7316" y="181164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정책 판단 필요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7316" y="2231640"/>
            <a:ext cx="3305738" cy="1328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담당자 확인 유도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09060"/>
            <a:ext cx="3545738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640" y="402906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개인정보 포함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640" y="4449060"/>
            <a:ext cx="3305738" cy="1328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로그/응답 처리 주의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978" y="3909060"/>
            <a:ext cx="3545738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2978" y="402906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여러 주제 혼재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2978" y="4449060"/>
            <a:ext cx="3305738" cy="1328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분류 모호성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3909060"/>
            <a:ext cx="3545738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7316" y="4029060"/>
            <a:ext cx="3305738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316" y="4449060"/>
            <a:ext cx="3305738" cy="1328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일부러 넣어보는 습관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58 / 77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프롬프트 튜닝 방향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828800"/>
            <a:ext cx="541004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11111"/>
                </a:solidFill>
                <a:latin typeface="Apple SD Gothic Neo"/>
              </a:rPr>
              <a:t>Before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5410047" cy="4023360"/>
          </a:xfrm>
          <a:prstGeom prst="rect">
            <a:avLst/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44287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단정적인 답변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FAQ 없어도 추측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검토 포인트 누락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828800"/>
            <a:ext cx="5410047" cy="54864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ple SD Gothic Neo"/>
              </a:rPr>
              <a:t>After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2377440"/>
            <a:ext cx="5410047" cy="402336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5887" y="2560320"/>
            <a:ext cx="5044287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모르는 것은 모른다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정책 확인 필요 문구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검토용 초안임을 명시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• 민감 문의는 담당자 확인 유도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26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답할 수 있는 것과 확인해야 하는 것을 구분하게 만든다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59 / 77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Prompt v2 요청 예시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1463040" cy="384048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300" b="1" i="0">
                <a:solidFill>
                  <a:srgbClr val="123C7C"/>
                </a:solidFill>
                <a:latin typeface="Apple SD Gothic Neo"/>
              </a:rPr>
              <a:t>Prompt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분류 정확도 향상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FAQ 미매칭 처리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과도한 확정 표현 줄이기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운영자 검토 포인트 강화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공공기관에 맞는 톤 유지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37360"/>
            <a:ext cx="4967935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claude/prompts/05-prompt-tuning.md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2240280"/>
            <a:ext cx="4967935" cy="406908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51073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현재 분류 결과와 응답 초안에서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다음 문제가 보인다: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FAQ 미매칭 시 무리한 추측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정책 판단 영역의 단정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검토 포인트 누락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Prompt v2 에서는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모르는 것은 모른다고 남기게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정책 확인 필요 문구를 포함하게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검토용 초안임을 명시하게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공공기관 어조를 유지하게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수정해줘.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60 / 77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실습 6 · 응답 품질 개선하기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2200" b="1" i="0">
                <a:solidFill>
                  <a:srgbClr val="111111"/>
                </a:solidFill>
                <a:latin typeface="Apple SD Gothic Neo"/>
              </a:rPr>
              <a:t>'더 좋게'가 아니라 '어떤 기준으로 더 좋게'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5720" cy="7315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728655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문의 하나를 선택한다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응답 초안의 문제를 찾는다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Claude에게 개선 기준을 준다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변경 후 결과를 비교한다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61 / 77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품질 개선 결과 공유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2200" b="1" i="0">
                <a:solidFill>
                  <a:srgbClr val="111111"/>
                </a:solidFill>
                <a:latin typeface="Apple SD Gothic Neo"/>
              </a:rPr>
              <a:t>좋아진 점만 보지 말고 새 부작용도 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5720" cy="7315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728655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어떤 문제가 있었는가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어떤 지시를 추가했는가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결과가 어떻게 달라졌는가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새로 생긴 부작용은 없는가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62 / 77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PART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123C7C"/>
                </a:solidFill>
                <a:latin typeface="Apple SD Gothic Neo"/>
              </a:rPr>
              <a:t>09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720" y="2194560"/>
            <a:ext cx="0" cy="0"/>
          </a:xfrm>
          <a:prstGeom prst="line">
            <a:avLst/>
          </a:prstGeom>
          <a:ln w="190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760720" y="2194560"/>
            <a:ext cx="45720" cy="228600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0" y="219456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11111"/>
                </a:solidFill>
                <a:latin typeface="Apple SD Gothic Neo"/>
              </a:rPr>
              <a:t>코드 리뷰 &amp; 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329184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33333"/>
                </a:solidFill>
                <a:latin typeface="Apple SD Gothic Neo"/>
              </a:rPr>
              <a:t>동작한다고 충분하지 않다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9319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이 파트의 산출물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29768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PRD 기준 리뷰 노트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최소 테스트 케이스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Fix Now / Later 분리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63 / 77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Claude / Codex 리뷰 요청 방법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1463040" cy="384048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300" b="1" i="0">
                <a:solidFill>
                  <a:srgbClr val="123C7C"/>
                </a:solidFill>
                <a:latin typeface="Apple SD Gothic Neo"/>
              </a:rPr>
              <a:t>Review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버그와 회귀 중심으로 본다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PRD와 설계 문서를 기준으로 비교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테스트가 필요한 지점을 찾는다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개선 제안과 실제 수정 범위를 분리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737360"/>
            <a:ext cx="4967935" cy="5029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Review Request Template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2240280"/>
            <a:ext cx="4967935" cy="4069080"/>
          </a:xfrm>
          <a:prstGeom prst="rect">
            <a:avLst/>
          </a:prstGeom>
          <a:solidFill>
            <a:srgbClr val="EAF1FB"/>
          </a:solidFill>
          <a:ln w="9525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451073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현재 apps/api, apps/web 코드를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다음 기준으로 리뷰해줘: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docs/04-prd-faq-automation.md 와의 일치 여부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docs/05-architecture-faq-automation.md 와의 일치 여부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발견한 버그와 회귀 가능성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- 누락된 테스트 케이스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출력은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1) 발견 사항 / 위험도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2) 지금 고쳐야 할 것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3) 나중에 다룰 것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111111"/>
                </a:solidFill>
                <a:latin typeface="Apple SD Gothic Neo"/>
              </a:rPr>
              <a:t>으로 분리해줘.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64 / 77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최소 테스트 케이스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822960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1" i="0">
                          <a:solidFill>
                            <a:srgbClr val="111111"/>
                          </a:solidFill>
                          <a:latin typeface="Apple SD Gothic Neo"/>
                        </a:rPr>
                        <a:t>케이스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1" i="0">
                          <a:solidFill>
                            <a:srgbClr val="111111"/>
                          </a:solidFill>
                          <a:latin typeface="Apple SD Gothic Neo"/>
                        </a:rPr>
                        <a:t>기대 결과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문의 목록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비어 있지 않다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존재하지 않는 문의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404 응답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FAQ 미매칭 문의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무리한 답변을 만들지 않는다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응답 초안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80000" tIns="40000" bIns="40000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Apple SD Gothic Neo"/>
                        </a:rPr>
                        <a:t>검토 포인트가 함께 포함된다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AI 기능에서는 실패했을 때의 행동이 더 중요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65 / 77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실습 7 · 리뷰 노트 만들기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2200" b="1" i="0">
                <a:solidFill>
                  <a:srgbClr val="111111"/>
                </a:solidFill>
                <a:latin typeface="Apple SD Gothic Neo"/>
              </a:rPr>
              <a:t>리뷰의 목적은 비판이 아니라 다음 액션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5720" cy="7315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728655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Claude 또는 Codex에 리뷰를 요청한다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발견된 리스크를 정리한다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바로 고칠 것과 나중에 할 것을 나눈다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리뷰 노트를 산출물로 남긴다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66 / 77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코드 리뷰에서 남겨야 할 질문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5432907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8640" y="1811640"/>
            <a:ext cx="519290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PRD 부합도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640" y="2231640"/>
            <a:ext cx="5192907" cy="1328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기능이 PRD 목표와 맞는가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91640"/>
            <a:ext cx="5432907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0147" y="1811640"/>
            <a:ext cx="519290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사용자 판단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0147" y="2231640"/>
            <a:ext cx="5192907" cy="1328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사용자가 실제로 판단하기 쉬운가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09060"/>
            <a:ext cx="5432907" cy="19888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8640" y="4029060"/>
            <a:ext cx="519290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위험한 자동화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640" y="4449060"/>
            <a:ext cx="5192907" cy="1328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숨어 있지 않은가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3909060"/>
            <a:ext cx="5432907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0147" y="4029060"/>
            <a:ext cx="519290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구조적 견고성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0147" y="4449060"/>
            <a:ext cx="5192907" cy="1328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데이터/모델 변경에 버틸 수 있는가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67 / 77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PART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123C7C"/>
                </a:solidFill>
                <a:latin typeface="Apple SD Gothic Neo"/>
              </a:rPr>
              <a:t>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720" y="2194560"/>
            <a:ext cx="0" cy="0"/>
          </a:xfrm>
          <a:prstGeom prst="line">
            <a:avLst/>
          </a:prstGeom>
          <a:ln w="190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760720" y="2194560"/>
            <a:ext cx="45720" cy="228600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0" y="219456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11111"/>
                </a:solidFill>
                <a:latin typeface="Apple SD Gothic Neo"/>
              </a:rPr>
              <a:t>실무 확장 &amp;
Wrap-up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329184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33333"/>
                </a:solidFill>
                <a:latin typeface="Apple SD Gothic Neo"/>
              </a:rPr>
              <a:t>Prototype →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9319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3C7C"/>
                </a:solidFill>
                <a:latin typeface="Apple SD Gothic Neo"/>
              </a:rPr>
              <a:t>이 파트의 산출물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297680"/>
            <a:ext cx="5669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실무 도입 로드맵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AI PM / 개발자 Best Practice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오늘의 한 줄 요약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68 / 77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조직에 AI 기능을 도입할 때의 순서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2194560"/>
            <a:ext cx="1819484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반복 업무 발견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05567" y="2610612"/>
            <a:ext cx="424361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67372" y="2194560"/>
            <a:ext cx="1819484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기준 문서 수집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24300" y="2610612"/>
            <a:ext cx="424361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86105" y="2194560"/>
            <a:ext cx="1819484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검토 가능한 초안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43033" y="2610612"/>
            <a:ext cx="424361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04838" y="2194560"/>
            <a:ext cx="1819484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로그 / 피드백 축적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61765" y="2610612"/>
            <a:ext cx="424361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23570" y="2194560"/>
            <a:ext cx="1819484" cy="12801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0" i="0">
                <a:solidFill>
                  <a:srgbClr val="111111"/>
                </a:solidFill>
                <a:latin typeface="Apple SD Gothic Neo"/>
              </a:rPr>
              <a:t>단계적 자동화 확장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6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처음부터 완전 자동화를 목표로 잡지 않는다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사람이 검토 가능한 초안 생성부터 시작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69 / 77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AI PM 관점의 Best Practice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000" b="1" i="0">
                <a:solidFill>
                  <a:srgbClr val="111111"/>
                </a:solidFill>
                <a:latin typeface="Apple SD Gothic Neo"/>
              </a:rPr>
              <a:t>• 문제를 작게 자른다</a:t>
            </a:r>
          </a:p>
          <a:p>
            <a:pPr algn="l">
              <a:lnSpc>
                <a:spcPct val="170000"/>
              </a:lnSpc>
            </a:pPr>
            <a:r>
              <a:rPr sz="2000" b="1" i="0">
                <a:solidFill>
                  <a:srgbClr val="111111"/>
                </a:solidFill>
                <a:latin typeface="Apple SD Gothic Neo"/>
              </a:rPr>
              <a:t>• 문서를 먼저 만든다</a:t>
            </a:r>
          </a:p>
          <a:p>
            <a:pPr algn="l">
              <a:lnSpc>
                <a:spcPct val="170000"/>
              </a:lnSpc>
            </a:pPr>
            <a:r>
              <a:rPr sz="2000" b="1" i="0">
                <a:solidFill>
                  <a:srgbClr val="111111"/>
                </a:solidFill>
                <a:latin typeface="Apple SD Gothic Neo"/>
              </a:rPr>
              <a:t>• AI에게 기준을 준다</a:t>
            </a:r>
          </a:p>
          <a:p>
            <a:pPr algn="l">
              <a:lnSpc>
                <a:spcPct val="170000"/>
              </a:lnSpc>
            </a:pPr>
            <a:r>
              <a:rPr sz="2000" b="1" i="0">
                <a:solidFill>
                  <a:srgbClr val="111111"/>
                </a:solidFill>
                <a:latin typeface="Apple SD Gothic Neo"/>
              </a:rPr>
              <a:t>• 결과를 사람 기준으로 검토한다</a:t>
            </a:r>
          </a:p>
          <a:p>
            <a:pPr algn="l">
              <a:lnSpc>
                <a:spcPct val="170000"/>
              </a:lnSpc>
            </a:pPr>
            <a:r>
              <a:rPr sz="2000" b="1" i="0">
                <a:solidFill>
                  <a:srgbClr val="111111"/>
                </a:solidFill>
                <a:latin typeface="Apple SD Gothic Neo"/>
              </a:rPr>
              <a:t>• 반복 개선을 운영 구조로 만든다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70 / 77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개발자 관점의 Best Practice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000" b="1" i="0">
                <a:solidFill>
                  <a:srgbClr val="111111"/>
                </a:solidFill>
                <a:latin typeface="Apple SD Gothic Neo"/>
              </a:rPr>
              <a:t>• 작은 단위로 구현 요청</a:t>
            </a:r>
          </a:p>
          <a:p>
            <a:pPr algn="l">
              <a:lnSpc>
                <a:spcPct val="170000"/>
              </a:lnSpc>
            </a:pPr>
            <a:r>
              <a:rPr sz="2000" b="1" i="0">
                <a:solidFill>
                  <a:srgbClr val="111111"/>
                </a:solidFill>
                <a:latin typeface="Apple SD Gothic Neo"/>
              </a:rPr>
              <a:t>• 실행 가능한 상태 자주 확인</a:t>
            </a:r>
          </a:p>
          <a:p>
            <a:pPr algn="l">
              <a:lnSpc>
                <a:spcPct val="170000"/>
              </a:lnSpc>
            </a:pPr>
            <a:r>
              <a:rPr sz="2000" b="1" i="0">
                <a:solidFill>
                  <a:srgbClr val="111111"/>
                </a:solidFill>
                <a:latin typeface="Apple SD Gothic Neo"/>
              </a:rPr>
              <a:t>• 타입과 API 계약 유지</a:t>
            </a:r>
          </a:p>
          <a:p>
            <a:pPr algn="l">
              <a:lnSpc>
                <a:spcPct val="170000"/>
              </a:lnSpc>
            </a:pPr>
            <a:r>
              <a:rPr sz="2000" b="1" i="0">
                <a:solidFill>
                  <a:srgbClr val="111111"/>
                </a:solidFill>
                <a:latin typeface="Apple SD Gothic Neo"/>
              </a:rPr>
              <a:t>• Mock 데이터로 먼저 검증</a:t>
            </a:r>
          </a:p>
          <a:p>
            <a:pPr algn="l">
              <a:lnSpc>
                <a:spcPct val="170000"/>
              </a:lnSpc>
            </a:pPr>
            <a:r>
              <a:rPr sz="2000" b="1" i="0">
                <a:solidFill>
                  <a:srgbClr val="111111"/>
                </a:solidFill>
                <a:latin typeface="Apple SD Gothic Neo"/>
              </a:rPr>
              <a:t>• 리뷰와 테스트를 마지막에 몰지 않기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71 / 77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오늘 만든 흐름을 다시 정리하면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2194560"/>
            <a:ext cx="1516236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Problem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94831" y="2610612"/>
            <a:ext cx="339489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64275" y="2194560"/>
            <a:ext cx="1516236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PRD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10467" y="2610612"/>
            <a:ext cx="339489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79911" y="2194560"/>
            <a:ext cx="1516236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Design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26102" y="2610612"/>
            <a:ext cx="339489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95546" y="2194560"/>
            <a:ext cx="1516236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Implementation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1738" y="2610612"/>
            <a:ext cx="339489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11182" y="2194560"/>
            <a:ext cx="1516236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Prompt v2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57374" y="2610612"/>
            <a:ext cx="339489" cy="448056"/>
          </a:xfrm>
          <a:prstGeom prst="rightArrow">
            <a:avLst/>
          </a:prstGeom>
          <a:solidFill>
            <a:srgbClr val="12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126818" y="2194560"/>
            <a:ext cx="1516236" cy="12801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700" b="1" i="0">
                <a:solidFill>
                  <a:srgbClr val="123C7C"/>
                </a:solidFill>
                <a:latin typeface="Apple SD Gothic Neo"/>
              </a:rP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차이는 이 과정을 Claude Desktop과 함께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문서와 코드가 이어지는 방식으로 진행했다는 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72 / 77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Q&amp;A · 확장 논의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48640" y="1691640"/>
            <a:ext cx="5432907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8640" y="1811640"/>
            <a:ext cx="519290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실제 LLM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640" y="2231640"/>
            <a:ext cx="5192907" cy="1328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붙이면 무엇이 달라질까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91640"/>
            <a:ext cx="5432907" cy="198882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12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0147" y="1811640"/>
            <a:ext cx="519290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3C7C"/>
                </a:solidFill>
                <a:latin typeface="Apple SD Gothic Neo"/>
              </a:rP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0147" y="2231640"/>
            <a:ext cx="5192907" cy="1328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붙이면 어떤 구조가 필요할까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09060"/>
            <a:ext cx="5432907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8640" y="4029060"/>
            <a:ext cx="519290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운영자 승인 플로우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640" y="4449060"/>
            <a:ext cx="5192907" cy="1328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어떻게 설계할까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3909060"/>
            <a:ext cx="5432907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0147" y="4029060"/>
            <a:ext cx="5192907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1111"/>
                </a:solidFill>
                <a:latin typeface="Apple SD Gothic Neo"/>
              </a:rPr>
              <a:t>개인정보와 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0147" y="4449060"/>
            <a:ext cx="5192907" cy="1328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33333"/>
                </a:solidFill>
                <a:latin typeface="Apple SD Gothic Neo"/>
              </a:rPr>
              <a:t>어떻게 관리할까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73 / 77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수강생이 가져갈 수 있는 프롬프트 자산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7830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문제 정의 / PRD / 설계 / 구현 / 품질 / 리뷰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• 각자 업무 도메인에 맞게 변형해서 사용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783080"/>
            <a:ext cx="5973775" cy="457200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00000" bIns="100000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claude/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├─ CLAUDE.md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├─ PROJECT_CONTEXT.md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└─ prompts/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├─ 01-problem-framing.md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├─ 02-prd-writing.md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├─ 03-system-design.md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├─ 04-implementation.md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├─ 05-prompt-tuning.md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111"/>
                </a:solidFill>
                <a:latin typeface="Menlo"/>
              </a:rPr>
              <a:t>    └─ 06-review-checklist.md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74 / 77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오늘의 한 줄 요약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2377440"/>
            <a:ext cx="45720" cy="228600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820095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AI Native는 AI에게 정답을 묻는 방식이 아니라,
AI와 함께 일을 끝내는 구조를 만드는 방식이다.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75 / 77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마지막 체크리스트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l"/>
            <a:r>
              <a:rPr sz="2200" b="1" i="0">
                <a:solidFill>
                  <a:srgbClr val="111111"/>
                </a:solidFill>
                <a:latin typeface="Apple SD Gothic Neo"/>
              </a:rPr>
              <a:t>도구 사용법보다 흐름을 자기 업무에 적용하는 능력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5720" cy="731520"/>
          </a:xfrm>
          <a:prstGeom prst="rect">
            <a:avLst/>
          </a:prstGeom>
          <a:solidFill>
            <a:srgbClr val="12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728655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Claude에게 맥락을 먼저 읽혔는가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문서가 구현 기준으로 쓰였는가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자동화 제외 범위를 정했는가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운영자 검토 포인트가 남았는가</a:t>
            </a:r>
          </a:p>
          <a:p>
            <a:pPr algn="l">
              <a:lnSpc>
                <a:spcPct val="170000"/>
              </a:lnSpc>
            </a:pPr>
            <a:r>
              <a:rPr sz="1700" b="0" i="0">
                <a:solidFill>
                  <a:srgbClr val="111111"/>
                </a:solidFill>
                <a:latin typeface="Apple SD Gothic Neo"/>
              </a:rPr>
              <a:t>☐  다음 확장 방향을 설명할 수 있는가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76 / 77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11111"/>
                </a:solidFill>
                <a:latin typeface="Apple SD Gothic Neo"/>
              </a:rPr>
              <a:t>끝 · 감사합니다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80160"/>
            <a:ext cx="731520" cy="0"/>
          </a:xfrm>
          <a:prstGeom prst="line">
            <a:avLst/>
          </a:prstGeom>
          <a:ln w="31750">
            <a:solidFill>
              <a:srgbClr val="123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000" b="1" i="0">
                <a:solidFill>
                  <a:srgbClr val="111111"/>
                </a:solidFill>
                <a:latin typeface="Apple SD Gothic Neo"/>
              </a:rPr>
              <a:t>• 질문 — 자유롭게</a:t>
            </a:r>
          </a:p>
          <a:p>
            <a:pPr algn="l">
              <a:lnSpc>
                <a:spcPct val="170000"/>
              </a:lnSpc>
            </a:pPr>
            <a:r>
              <a:rPr sz="2000" b="1" i="0">
                <a:solidFill>
                  <a:srgbClr val="111111"/>
                </a:solidFill>
                <a:latin typeface="Apple SD Gothic Neo"/>
              </a:rPr>
              <a:t>• 실무 적용 아이디어 공유</a:t>
            </a:r>
          </a:p>
          <a:p>
            <a:pPr algn="l">
              <a:lnSpc>
                <a:spcPct val="170000"/>
              </a:lnSpc>
            </a:pPr>
            <a:r>
              <a:rPr sz="2000" b="1" i="0">
                <a:solidFill>
                  <a:srgbClr val="111111"/>
                </a:solidFill>
                <a:latin typeface="Apple SD Gothic Neo"/>
              </a:rPr>
              <a:t>• GitHub 저장소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개발자에서 AI Native로 · 서울AI재단 5시간 워크숍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333333"/>
                </a:solidFill>
                <a:latin typeface="Apple SD Gothic Neo"/>
              </a:rPr>
              <a:t>77 / 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